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2CB4BE"/>
                </a:solidFill>
                <a:latin typeface="Aptos"/>
              </a:rPr>
              <a:t>IBVAP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5F8FC"/>
                </a:solidFill>
                <a:latin typeface="Aptos"/>
              </a:rPr>
              <a:t>Intelligent Border Video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0604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B4C0CF"/>
                </a:solidFill>
                <a:latin typeface="Aptos"/>
              </a:rPr>
              <a:t>Turning existing CCTV into an intelligent, explainable border-security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862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BAA3C"/>
                </a:solidFill>
                <a:latin typeface="Aptos"/>
              </a:rPr>
              <a:t>TAGLINE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F5F8FC"/>
                </a:solidFill>
                <a:latin typeface="Aptos"/>
              </a:rPr>
              <a:t>“Detect. Understand. Correlate. Respond.”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B4C0CF"/>
                </a:solidFill>
                <a:latin typeface="Aptos"/>
              </a:rPr>
              <a:t>SIH 2026 • Professional Product / Engineering Blueprint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1. Problem We Are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• Border forces already have CCTV at BOPs, check posts, roads and strategic locations.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• Conventional CCTV mainly records or requires continuous human observation.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9514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• Dedicated FRS, ANPR and smart-camera hardware can be expensive and difficult to deploy at remote locations.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3405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• Operators need faster, prioritized alerts—not hundreds of raw camera notifications.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7296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• IBVAP adds an AI software layer on top of existing IP CCTV infrastructure.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C0CF"/>
                </a:solidFill>
                <a:latin typeface="Aptos"/>
              </a:rPr>
              <a:t>IBVAP • SIH Concept &amp; Development Blueprint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2. Vision: From CCTV to Border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Existing IP CCTV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64592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CB4BE"/>
                </a:solidFill>
                <a:latin typeface="Aptos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6459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AI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64592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CB4BE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Context +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4592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CB4BE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64592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Threat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164592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CB4BE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7432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Alert /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Person, vehicle and face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27832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ANPR / 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66744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Tracking and virtual fences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05656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Night movement and loitering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44568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Multi-camera event correlation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Explainable 0–100 threat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22392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Evidence + audit trail + response 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C0CF"/>
                </a:solidFill>
                <a:latin typeface="Aptos"/>
              </a:rPr>
              <a:t>IBVAP • SIH Concept &amp; Development Blueprint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3. What Makes IBVAP Different?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Not just object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73352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Existing systems already detect people, vehicles, plates and intrusion. Our value is what happens AFTER detection.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Border-specific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96312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Zone, time, direction, movement pattern, identity status and event history are combined.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Threat Intelligence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19272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Multiple weak signals become one prioritized threat assessment.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Explainable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42232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The dashboard shows WHY a threat score was generated.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091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Multi-camera 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65192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Maintain a logical track across cameras instead of treating every detection as a new event.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Remote / offline-first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788152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Continue local detection and queue events when connectivity is poor; synchronize later.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C0CF"/>
                </a:solidFill>
                <a:latin typeface="Aptos"/>
              </a:rPr>
              <a:t>IBVAP • SIH Concept &amp; Development Blueprint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4. Core Differentiator: Border Threat Intelligence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BAA3C"/>
                </a:solidFill>
                <a:latin typeface="Aptos"/>
              </a:rPr>
              <a:t>THREAT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DC464B"/>
                </a:solidFill>
                <a:latin typeface="Aptos"/>
              </a:rPr>
              <a:t>91 /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9572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DC464B"/>
                </a:solidFill>
                <a:latin typeface="Aptos"/>
              </a:rPr>
              <a:t>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1732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+25 Restricted-zone intrusion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84248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+20 Unknown identity / no authorization 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51176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+15 Night-time movement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118104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+15 Movement toward sensitive sector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85032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+10 Loitering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5196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+06 Group movement / contextual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71500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CB4BE"/>
                </a:solidFill>
                <a:latin typeface="Aptos"/>
              </a:rPr>
              <a:t>Principle: detection → context → correlation → threat →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C0CF"/>
                </a:solidFill>
                <a:latin typeface="Aptos"/>
              </a:rPr>
              <a:t>IBVAP • SIH Concept &amp; Development Blueprint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5. Multi-Camera Tracking — The “Wow”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• Create a persistent logical Track ID such as P-1042.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• Associate detections across Camera 01 → Camera 02 → Camera 03 → Camera 04.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9514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• Record direction, duration, zones crossed and last-seen location.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3405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• Show the operator that the same subject is moving through the border area.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7296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• Combine the full journey into one incident instead of four unrelated alerts.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977639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CB4BE"/>
                </a:solidFill>
                <a:latin typeface="Aptos"/>
              </a:rPr>
              <a:t>P-1042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57200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"/>
              </a:rPr>
              <a:t>CAM 01  →  CAM 02  →  CAM 03  →  CAM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516636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B4C0CF"/>
                </a:solidFill>
                <a:latin typeface="Aptos"/>
              </a:rPr>
              <a:t>Threat can rise as context accumulates.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C0CF"/>
                </a:solidFill>
                <a:latin typeface="Aptos"/>
              </a:rPr>
              <a:t>IBVAP • SIH Concept &amp; Development Blueprint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6. Explainable Threat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4C0CF"/>
                </a:solidFill>
                <a:latin typeface="Aptos"/>
              </a:rPr>
              <a:t>Instead of only showing: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DC464B"/>
                </a:solidFill>
                <a:latin typeface="Aptos"/>
              </a:rPr>
              <a:t>“Threat = 91”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17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4C0CF"/>
                </a:solidFill>
                <a:latin typeface="Aptos"/>
              </a:rPr>
              <a:t>show the reasoning: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Restricted zone breach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31720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Unknown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834639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Night movement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337559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Direction toward sensitive sector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840479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Loitering / abnormal dwell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343399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Multi-camera movement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BAA3C"/>
                </a:solidFill>
                <a:latin typeface="Aptos"/>
              </a:rPr>
              <a:t>AI Recommendation: Immediate verification recommended.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C0CF"/>
                </a:solidFill>
                <a:latin typeface="Aptos"/>
              </a:rPr>
              <a:t>IBVAP • SIH Concept &amp; Development Blueprint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7. Suspicious Activity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Loitering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73352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Person remains in a sensitive area longer than a configurable threshold.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Virtual-fence breach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96312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Person or vehicle crosses a configured digital boundary.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Wrong-direction movement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19272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Movement conflicts with configured safe/expected direction.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Night-time 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42232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Movement during a configured high-risk time window.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091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Group movement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65192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Multiple tracked subjects enter or move through a sensitive zone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Suspicious 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788152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Several events occur in a short window and are correlated into one incident.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C0CF"/>
                </a:solidFill>
                <a:latin typeface="Aptos"/>
              </a:rPr>
              <a:t>IBVAP • SIH Concept &amp; Development Blueprint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8. Offline-First Border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CB478"/>
                </a:solidFill>
                <a:latin typeface="Aptos"/>
              </a:rPr>
              <a:t>NORMAL 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Camera → Edge AI → Event → Central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4173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C464B"/>
                </a:solidFill>
                <a:latin typeface="Aptos"/>
              </a:rPr>
              <a:t>NETWORK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74519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Camera → Local AI → Local Event 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4173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CB4BE"/>
                </a:solidFill>
                <a:latin typeface="Aptos"/>
              </a:rPr>
              <a:t>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874519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Queued events → Automatic Sync → Command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• Dashboard shows camera/network health.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42231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• No internet should not mean no surveillance.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8114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• Store metadata/evidence locally and synchronize safely when connectivity returns.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C0CF"/>
                </a:solidFill>
                <a:latin typeface="Aptos"/>
              </a:rPr>
              <a:t>IBVAP • SIH Concept &amp; Development Blueprint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9. Command-Center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Live camera / stream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0136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Map of BOPs, sectors, cameras and restricted 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7685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Active incidents sorted by threat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5234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Track ID timeline and camera handoffs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2783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Threat explanation and recommended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Event snapshot / clip / timestamp / camera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7880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System health: camera, AI inference, network and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542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Audit ledger with tamper-evident event hashes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C0CF"/>
                </a:solidFill>
                <a:latin typeface="Aptos"/>
              </a:rPr>
              <a:t>IBVAP • SIH Concept &amp; Development Blueprint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10. Evidence &amp; Secure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Every important incident should create an immutable-style event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Store event ID, timestamp, camera ID, zone, Track ID, detections, threat score and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946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Attach evidence reference: snapshot and/or short event clip.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4553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Generate SHA-256 hash for event integrity.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2160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Optionally chain hashes: current_hash = SHA256(previous_hash + event_payload).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Provide export for incident review and command/control integration.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66928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CB4BE"/>
                </a:solidFill>
                <a:latin typeface="Aptos"/>
              </a:rPr>
              <a:t>Goal: traceable, tamper-evident operational history.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C0CF"/>
                </a:solidFill>
                <a:latin typeface="Aptos"/>
              </a:rPr>
              <a:t>IBVAP • SIH Concept &amp; Development Blueprint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11. Proposed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CB4BE"/>
                </a:solidFill>
                <a:latin typeface="Aptos"/>
              </a:rPr>
              <a:t>• Video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81912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RTSP / ONVIF compatible IP cameras; stream health monitoring.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CB4BE"/>
                </a:solidFill>
                <a:latin typeface="Aptos"/>
              </a:rPr>
              <a:t>• AI / CV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YOLO-family detector, tracking, OCR/ANPR, face detection/optional recognition.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0837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CB4BE"/>
                </a:solidFill>
                <a:latin typeface="Aptos"/>
              </a:rPr>
              <a:t>• Context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64408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Zones, schedules, direction, dwell time, object attributes and camera relationships.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962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CB4BE"/>
                </a:solidFill>
                <a:latin typeface="Aptos"/>
              </a:rPr>
              <a:t>• Threat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05656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Rule + weighted scoring initially; ML/anomaly model can be added after collecting event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908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CB4BE"/>
                </a:solidFill>
                <a:latin typeface="Aptos"/>
              </a:rPr>
              <a:t>•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46904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FastAPI services, WebSocket/REST APIs, PostgreSQL or MongoDB, Redis for queues/cache.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CB4BE"/>
                </a:solidFill>
                <a:latin typeface="Aptos"/>
              </a:rPr>
              <a:t>• 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788152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React + modern dashboard, map view, incident timeline and live alerting.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7336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CB4BE"/>
                </a:solidFill>
                <a:latin typeface="Aptos"/>
              </a:rPr>
              <a:t>•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6629400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Docker; edge node at BOP + central command server; offline queue + synchronization.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C0CF"/>
                </a:solidFill>
                <a:latin typeface="Aptos"/>
              </a:rPr>
              <a:t>IBVAP • SIH Concept &amp; Development Blueprint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12. Implementation Roadmap — Build in This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• Phase 1 — CCTV ingestion + health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824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• Phase 2 — Person / vehicle detection +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305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• Phase 3 — Virtual fence + zone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7860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• Phase 4 — ANPR / OCR + authorized-list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2666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• Phase 5 — Loitering + direction + night movement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• Phase 6 — Multi-camera Track ID correlation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2277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• Phase 7 — Border Threat Intelligence Engine + explainable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7083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• Phase 8 — Evidence capture + audit hashing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1888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• Phase 9 — Offline queue + synchronization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6694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• Phase 10 — Command dashboard + end-to-end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C0CF"/>
                </a:solidFill>
                <a:latin typeface="Aptos"/>
              </a:rPr>
              <a:t>IBVAP • SIH Concept &amp; Development Blueprint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13. MVP vs Advanced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MVP — must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673352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RTSP stream, person/vehicle detection, tracking, virtual fence, alerts, threat score, event 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5856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Strong SIH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ANPR, loitering, night movement, explainable scoring, evidence clip,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9981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Differentiator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55848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Multi-camera tracking + contextual threat correlation.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4106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Advanced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97096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Offline-first edge deployment, event synchronization, anomaly learning, command/control integration.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823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CB4BE"/>
                </a:solidFill>
                <a:latin typeface="Aptos"/>
              </a:rPr>
              <a:t>• Do not overpromise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038344"/>
            <a:ext cx="10561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Use configurable rules and measurable models; clearly distinguish prototype capabilities from production-grade security certification.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C0CF"/>
                </a:solidFill>
                <a:latin typeface="Aptos"/>
              </a:rPr>
              <a:t>IBVAP • SIH Concept &amp; Development Blueprint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14. Existing Solutions vs Our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Commercial AI-video platforms already provide many individual capabilities: object detection, intrusion, ANPR, tracking, edge processing and camera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3911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Therefore, “we use AI on CCTV” is NOT enough as an innovation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609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Our positioning: a border-specific orchestration and intelligence layer that combines signals across time, zones and cameras.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826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Focus on remote deployment, hardware reuse, explainable threat prioritization, multi-camera correlation and resilient operation.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0448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Position IBVAP as a software-defined intelligence platform—not another standalone smart camera.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C0CF"/>
                </a:solidFill>
                <a:latin typeface="Aptos"/>
              </a:rPr>
              <a:t>IBVAP • SIH Concept &amp; Development Blueprint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15. What the Judges Should See in 3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1. Connect/play an ordinary IP CCTV stream.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7393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2. Detect a person and assign Track 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3. Person enters a restricted zone → instant alert.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4. Same person appears on another camera → Track ID maintained.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5526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5. Night + loitering + direction + unknown status increase threat score.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6. Dashboard explains WHY the score is high.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4281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7. Show evidence clip/snapshot and secure event hash.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3659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• 8. Simulate network loss → local events continue → reconnect → automatic sync.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2CB4BE"/>
                </a:solidFill>
                <a:latin typeface="Aptos"/>
              </a:rPr>
              <a:t>The story: “We don't replace CCTV. We make the existing infrastructure intelligent.”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C0CF"/>
                </a:solidFill>
                <a:latin typeface="Aptos"/>
              </a:rPr>
              <a:t>IBVAP • SIH Concept &amp; Development Blueprint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16. Key Innovation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828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CB4BE"/>
                </a:solidFill>
                <a:latin typeface="Aptos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828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CB4BE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828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828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CB4BE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828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THREAT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828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CB4BE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828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004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F5F8FC"/>
                </a:solidFill>
                <a:latin typeface="Aptos"/>
              </a:rPr>
              <a:t>IBVAP transforms raw video events into explainable, prioritized border-security intelligence.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66344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2CB4BE"/>
                </a:solidFill>
                <a:latin typeface="Aptos"/>
              </a:rPr>
              <a:t>Hardware-agnostic • Border-specific • Explainable • Resilient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C0CF"/>
                </a:solidFill>
                <a:latin typeface="Aptos"/>
              </a:rPr>
              <a:t>IBVAP • SIH Concept &amp; Development Blueprint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2CB4BE"/>
                </a:solidFill>
                <a:latin typeface="Aptos"/>
              </a:rPr>
              <a:t>IBVAP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5F8FC"/>
                </a:solidFill>
                <a:latin typeface="Aptos"/>
              </a:rPr>
              <a:t>Intelligent Border Video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EBAA3C"/>
                </a:solidFill>
                <a:latin typeface="Aptos"/>
              </a:rPr>
              <a:t>“Detect. Understand. Correlate. Respond.”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B4C0CF"/>
                </a:solidFill>
                <a:latin typeface="Aptos"/>
              </a:rPr>
              <a:t>Build the intelligence layer on top of the cameras already deployed.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B4C0CF"/>
                </a:solidFill>
                <a:latin typeface="Aptos"/>
              </a:rPr>
              <a:t>SIH 2026 • Development Blueprint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17. End-to-End System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C0CF"/>
                </a:solidFill>
                <a:latin typeface="Aptos"/>
              </a:rPr>
              <a:t>How the complete IBVAP platform is organized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325880"/>
            <a:ext cx="8503920" cy="566928"/>
          </a:xfrm>
          <a:prstGeom prst="roundRect">
            <a:avLst/>
          </a:prstGeom>
          <a:solidFill>
            <a:srgbClr val="2CB4BE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1952" y="1399032"/>
            <a:ext cx="835761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CAMERA LAYER
IP CCTV • RTSP • ONVIF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892807"/>
            <a:ext cx="0" cy="329184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28800" y="2084831"/>
            <a:ext cx="8503920" cy="566928"/>
          </a:xfrm>
          <a:prstGeom prst="roundRect">
            <a:avLst/>
          </a:prstGeom>
          <a:solidFill>
            <a:srgbClr val="2D69AF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2157984"/>
            <a:ext cx="835761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INGESTION LAYER
Stream gateway • reconnect • health monitor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651760"/>
            <a:ext cx="0" cy="329184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2843784"/>
            <a:ext cx="8503920" cy="566928"/>
          </a:xfrm>
          <a:prstGeom prst="roundRect">
            <a:avLst/>
          </a:prstGeom>
          <a:solidFill>
            <a:srgbClr val="2D69AF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2916936"/>
            <a:ext cx="835761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AI / CV LAYER
Detection • tracking • OCR/ANPR • face detection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410712"/>
            <a:ext cx="0" cy="329184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828800" y="3602736"/>
            <a:ext cx="8503920" cy="566928"/>
          </a:xfrm>
          <a:prstGeom prst="roundRect">
            <a:avLst/>
          </a:prstGeom>
          <a:solidFill>
            <a:srgbClr val="EBAA3C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01952" y="3675887"/>
            <a:ext cx="835761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CONTEXT LAYER
Zones • time • direction • dwell • identity • history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4169663"/>
            <a:ext cx="0" cy="329185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28800" y="4361688"/>
            <a:ext cx="8503920" cy="566928"/>
          </a:xfrm>
          <a:prstGeom prst="roundRect">
            <a:avLst/>
          </a:prstGeom>
          <a:solidFill>
            <a:srgbClr val="DC464B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01952" y="4434840"/>
            <a:ext cx="835761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INTELLIGENCE LAYER
Threat score • correlation • rules • anomaly signals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4928616"/>
            <a:ext cx="0" cy="329184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828800" y="5120640"/>
            <a:ext cx="8503920" cy="566928"/>
          </a:xfrm>
          <a:prstGeom prst="roundRect">
            <a:avLst/>
          </a:prstGeom>
          <a:solidFill>
            <a:srgbClr val="3CB478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1952" y="5193792"/>
            <a:ext cx="835761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ACTION LAYER
Alert • evidence • recommended response • audit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5687568"/>
            <a:ext cx="0" cy="329184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828800" y="5879592"/>
            <a:ext cx="8503920" cy="566928"/>
          </a:xfrm>
          <a:prstGeom prst="roundRect">
            <a:avLst/>
          </a:prstGeom>
          <a:solidFill>
            <a:srgbClr val="2CB4BE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01952" y="5952744"/>
            <a:ext cx="835761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COMMAND LAYER
Dashboard • map • incidents • analytics •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080760"/>
            <a:ext cx="9418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B4C0CF"/>
                </a:solidFill>
                <a:latin typeface="Aptos"/>
              </a:rPr>
              <a:t>Security principle: each layer should be replaceable and independently testable.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6446520"/>
            <a:ext cx="8961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B4C0CF"/>
                </a:solidFill>
                <a:latin typeface="Aptos"/>
              </a:rPr>
              <a:t>IBVAP = modular software intelligence over existing CCTV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18. Runtime Workflow — From Camera Frame to 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C0CF"/>
                </a:solidFill>
                <a:latin typeface="Aptos"/>
              </a:rPr>
              <a:t>The exact processing sequence the development team should implement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011680" cy="566928"/>
          </a:xfrm>
          <a:prstGeom prst="roundRect">
            <a:avLst/>
          </a:prstGeom>
          <a:solidFill>
            <a:srgbClr val="2CB4BE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99032"/>
            <a:ext cx="186537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1
Frame arrives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1609344"/>
            <a:ext cx="256032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99232" y="1325880"/>
            <a:ext cx="2011680" cy="566928"/>
          </a:xfrm>
          <a:prstGeom prst="roundRect">
            <a:avLst/>
          </a:prstGeom>
          <a:solidFill>
            <a:srgbClr val="2D69AF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72384" y="1399032"/>
            <a:ext cx="186537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2
Detect objects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10912" y="1609344"/>
            <a:ext cx="256032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66944" y="1325880"/>
            <a:ext cx="2011680" cy="566928"/>
          </a:xfrm>
          <a:prstGeom prst="roundRect">
            <a:avLst/>
          </a:prstGeom>
          <a:solidFill>
            <a:srgbClr val="2D69AF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0096" y="1399032"/>
            <a:ext cx="186537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3
Assign / update Track 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78624" y="1609344"/>
            <a:ext cx="256032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34656" y="1325880"/>
            <a:ext cx="2011680" cy="566928"/>
          </a:xfrm>
          <a:prstGeom prst="roundRect">
            <a:avLst/>
          </a:prstGeom>
          <a:solidFill>
            <a:srgbClr val="EBAA3C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1399032"/>
            <a:ext cx="186537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4
Check zone + time + direction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46336" y="1609344"/>
            <a:ext cx="256032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02368" y="1325880"/>
            <a:ext cx="2011680" cy="566928"/>
          </a:xfrm>
          <a:prstGeom prst="roundRect">
            <a:avLst/>
          </a:prstGeom>
          <a:solidFill>
            <a:srgbClr val="EBAA3C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1399032"/>
            <a:ext cx="186537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5
Run behavior 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808208" y="1892807"/>
            <a:ext cx="0" cy="832105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3291839"/>
            <a:ext cx="2011680" cy="566928"/>
          </a:xfrm>
          <a:prstGeom prst="roundRect">
            <a:avLst/>
          </a:prstGeom>
          <a:solidFill>
            <a:srgbClr val="DC464B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364991"/>
            <a:ext cx="186537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6
Correlate with other cameras/events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43200" y="3575303"/>
            <a:ext cx="256032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999232" y="3291839"/>
            <a:ext cx="2011680" cy="566928"/>
          </a:xfrm>
          <a:prstGeom prst="roundRect">
            <a:avLst/>
          </a:prstGeom>
          <a:solidFill>
            <a:srgbClr val="DC464B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72384" y="3364991"/>
            <a:ext cx="186537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7
Calculate explainable threat score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10912" y="3575303"/>
            <a:ext cx="256032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266944" y="3291839"/>
            <a:ext cx="2011680" cy="566928"/>
          </a:xfrm>
          <a:prstGeom prst="roundRect">
            <a:avLst/>
          </a:prstGeom>
          <a:solidFill>
            <a:srgbClr val="3CB478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0096" y="3364991"/>
            <a:ext cx="186537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8
Generate alert + evidence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78624" y="3575303"/>
            <a:ext cx="256032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534656" y="3291839"/>
            <a:ext cx="2011680" cy="566928"/>
          </a:xfrm>
          <a:prstGeom prst="roundRect">
            <a:avLst/>
          </a:prstGeom>
          <a:solidFill>
            <a:srgbClr val="3CB478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7808" y="3364991"/>
            <a:ext cx="186537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9
Persist audit event / hash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46336" y="3575303"/>
            <a:ext cx="256032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802368" y="3291839"/>
            <a:ext cx="2011680" cy="566928"/>
          </a:xfrm>
          <a:prstGeom prst="roundRect">
            <a:avLst/>
          </a:prstGeom>
          <a:solidFill>
            <a:srgbClr val="2CB4BE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3364991"/>
            <a:ext cx="1865376" cy="420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10
Push to command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48006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CB4BE"/>
                </a:solidFill>
                <a:latin typeface="Aptos"/>
              </a:rPr>
              <a:t>Continuous loop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1828800" y="5074920"/>
            <a:ext cx="7498080" cy="41148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71600" y="566928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Process repeats for every frame/event while the stream is active.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6144768"/>
            <a:ext cx="10149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C0CF"/>
                </a:solidFill>
                <a:latin typeface="Aptos"/>
              </a:rPr>
              <a:t>Key design rule: raw detections are temporary; correlated incidents are the operational unit.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19. Recommended Project / Repository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C0CF"/>
                </a:solidFill>
                <a:latin typeface="Aptos"/>
              </a:rPr>
              <a:t>A clean structure for the team to implement and maintain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3949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ibvap/
├── backend/
│   ├── api/
│   ├── services/
│   ├── models/
│   ├── inference/
│   ├── rules/
│   ├── tracking/
│   ├── storage/
│   └── security/
├── frontend/
│   ├── dashboard/
│   ├── map/
│   ├── incidents/
│   └── components/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1206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├── edge/
│   ├── stream_worker/
│   ├── local_queue/
│   └── sync/
├── models/
│   ├── detector/
│   ├── tracker/
│   └── ocr/
├── config/
├── tests/
├── docker/
└── docs/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807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CB4BE"/>
                </a:solidFill>
                <a:latin typeface="Aptos"/>
              </a:rPr>
              <a:t>Keep AI models, business rules, APIs and UI decoupled so the team can swap components without rewriting the whole system.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20. Event Data Workflow &amp;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C0CF"/>
                </a:solidFill>
                <a:latin typeface="Aptos"/>
              </a:rPr>
              <a:t>What happens to metadata and evidence after an AI event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1828800" cy="640080"/>
          </a:xfrm>
          <a:prstGeom prst="roundRect">
            <a:avLst/>
          </a:prstGeom>
          <a:solidFill>
            <a:srgbClr val="2CB4BE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719072"/>
            <a:ext cx="1682496" cy="493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CCTV / RTSP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645920"/>
            <a:ext cx="1737360" cy="640080"/>
          </a:xfrm>
          <a:prstGeom prst="roundRect">
            <a:avLst/>
          </a:prstGeom>
          <a:solidFill>
            <a:srgbClr val="2D69AF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62072" y="1719072"/>
            <a:ext cx="1591056" cy="493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AI Event
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645920"/>
            <a:ext cx="2057400" cy="640080"/>
          </a:xfrm>
          <a:prstGeom prst="roundRect">
            <a:avLst/>
          </a:prstGeom>
          <a:solidFill>
            <a:srgbClr val="EBAA3C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19072"/>
            <a:ext cx="1911095" cy="493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Context +
Threat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1783080" cy="640080"/>
          </a:xfrm>
          <a:prstGeom prst="roundRect">
            <a:avLst/>
          </a:prstGeom>
          <a:solidFill>
            <a:srgbClr val="DC464B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8352" y="1719072"/>
            <a:ext cx="1636776" cy="493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Incident
Record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1645920"/>
            <a:ext cx="1965960" cy="640080"/>
          </a:xfrm>
          <a:prstGeom prst="roundRect">
            <a:avLst/>
          </a:prstGeom>
          <a:solidFill>
            <a:srgbClr val="3CB478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37192" y="1719072"/>
            <a:ext cx="1819656" cy="493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Dashboard /
Alert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23160" y="1965960"/>
            <a:ext cx="365760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26280" y="1965960"/>
            <a:ext cx="365760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49440" y="1965960"/>
            <a:ext cx="365760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98280" y="1965960"/>
            <a:ext cx="365760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51560" y="3429000"/>
            <a:ext cx="2743200" cy="822960"/>
          </a:xfrm>
          <a:prstGeom prst="roundRect">
            <a:avLst/>
          </a:prstGeom>
          <a:solidFill>
            <a:srgbClr val="2D69AF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3502152"/>
            <a:ext cx="259689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PostgreSQL / MongoDB
structured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3429000"/>
            <a:ext cx="2743200" cy="822960"/>
          </a:xfrm>
          <a:prstGeom prst="roundRect">
            <a:avLst/>
          </a:prstGeom>
          <a:solidFill>
            <a:srgbClr val="2D69AF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3502152"/>
            <a:ext cx="259689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Object / local storage
evidence clips + snapshots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3429000"/>
            <a:ext cx="2468880" cy="822960"/>
          </a:xfrm>
          <a:prstGeom prst="roundRect">
            <a:avLst/>
          </a:prstGeom>
          <a:solidFill>
            <a:srgbClr val="2D69AF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9912" y="3502152"/>
            <a:ext cx="232257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Redis / queue
alerts + offline sync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423160" y="2286000"/>
            <a:ext cx="3474720" cy="114300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97880" y="2286000"/>
            <a:ext cx="182880" cy="114300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29600" y="2286000"/>
            <a:ext cx="1371600" cy="114300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47091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Recommended event 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2064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4C0CF"/>
                </a:solidFill>
                <a:latin typeface="Aptos"/>
              </a:rPr>
              <a:t>event_id • timestamp • camera_id • zone_id • track_id • object_type • confidence • attributes • threat_score • reason_codes • action • evidence_ref • hash • previous_hash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CB4BE"/>
                </a:solidFill>
                <a:latin typeface="Aptos"/>
              </a:rPr>
              <a:t>Offline mode: write locally first → queue sync → upload when connectivity returns → preserve event order and integrity.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21. API / Service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C0CF"/>
                </a:solidFill>
                <a:latin typeface="Aptos"/>
              </a:rPr>
              <a:t>How frontend, backend and AI services communicate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691640" cy="914400"/>
          </a:xfrm>
          <a:prstGeom prst="roundRect">
            <a:avLst/>
          </a:prstGeom>
          <a:solidFill>
            <a:srgbClr val="2CB4BE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901952"/>
            <a:ext cx="1545336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CCTV Gateway
RTSP stream
camera health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2286000"/>
            <a:ext cx="246888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41448" y="1828800"/>
            <a:ext cx="1691640" cy="914400"/>
          </a:xfrm>
          <a:prstGeom prst="roundRect">
            <a:avLst/>
          </a:prstGeom>
          <a:solidFill>
            <a:srgbClr val="2D69AF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901952"/>
            <a:ext cx="1545336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Inference Service
detect + track
ANPR/OCR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33087" y="2286000"/>
            <a:ext cx="246889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79976" y="1828800"/>
            <a:ext cx="1691640" cy="914400"/>
          </a:xfrm>
          <a:prstGeom prst="roundRect">
            <a:avLst/>
          </a:prstGeom>
          <a:solidFill>
            <a:srgbClr val="EBAA3C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901952"/>
            <a:ext cx="1545336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Event Service
normalize event
apply context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71616" y="2286000"/>
            <a:ext cx="246888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18504" y="1828800"/>
            <a:ext cx="1691640" cy="914400"/>
          </a:xfrm>
          <a:prstGeom prst="roundRect">
            <a:avLst/>
          </a:prstGeom>
          <a:solidFill>
            <a:srgbClr val="DC464B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901952"/>
            <a:ext cx="1545336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Threat Service
score + reasons
correlate history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10144" y="2286000"/>
            <a:ext cx="246888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57032" y="1828800"/>
            <a:ext cx="1691640" cy="914400"/>
          </a:xfrm>
          <a:prstGeom prst="roundRect">
            <a:avLst/>
          </a:prstGeom>
          <a:solidFill>
            <a:srgbClr val="3CB478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4" y="1901952"/>
            <a:ext cx="1545336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Alert Service
WebSocket / push
incident creation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948672" y="2286000"/>
            <a:ext cx="246888" cy="0"/>
          </a:xfrm>
          <a:prstGeom prst="line">
            <a:avLst/>
          </a:prstGeom>
          <a:ln w="31750">
            <a:solidFill>
              <a:srgbClr val="2C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195560" y="1828800"/>
            <a:ext cx="1691640" cy="914400"/>
          </a:xfrm>
          <a:prstGeom prst="roundRect">
            <a:avLst/>
          </a:prstGeom>
          <a:solidFill>
            <a:srgbClr val="2CB4BE"/>
          </a:solidFill>
          <a:ln>
            <a:solidFill>
              <a:srgbClr val="5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8712" y="1901952"/>
            <a:ext cx="1545336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Dashboard
live view
acknowledge /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429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Example API responsibilities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40480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• POST /streams/connect — register / connect camera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178808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• POST /events — ingest normalized AI 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17136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• POST /incidents/assess — calculate threat + reasons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55464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• GET /incidents — retrieve prioritized incidents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193792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• GET /tracks/{id} — retrieve cross-camera journey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32120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• POST /incidents/{id}/ack — operator acknowledgement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70448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• GET /audit — verify event history / hashes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29107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CB4BE"/>
                </a:solidFill>
                <a:latin typeface="Aptos"/>
              </a:rPr>
              <a:t>Design APIs around incidents and tracks—not around isolated model predictions.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22. SIH Demo Workflow — The Story We Should Demonstrate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C0CF"/>
                </a:solidFill>
                <a:latin typeface="Aptos"/>
              </a:rPr>
              <a:t>A single scenario that proves the project is intelligent, not just a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1. Start with an ordinary IP CCTV stream.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2. Person appears → AI detects and assigns P-1042.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082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3. Person enters restricted zone → virtual-fence alert.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14016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4. System sees night-time movement + unusual dwell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0720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5. Person moves toward sensitive sector → direction signal added.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6. Same person is detected by another camera → Track ID preserved.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9359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7. Identity / authorization check fails → unknown status.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867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8. Threat Intelligence Engine combines signals → 91/100 CRITICAL.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79976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9. Dashboard explains the score and recommends verification.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731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10. Evidence + audit hash are stored.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59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11. Simulate network loss → local event queue continues.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59551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12. Restore network → queued events synchronize automatically.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144768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EBAA3C"/>
                </a:solidFill>
                <a:latin typeface="Aptos"/>
              </a:rPr>
              <a:t>Closing message: “We don't replace CCTV. We make the existing infrastructure intelligent.”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